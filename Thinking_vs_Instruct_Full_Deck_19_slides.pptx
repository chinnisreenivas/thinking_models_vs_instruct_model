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Accuracy, re-checked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Accuracy, re-checked (%)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o3-mini</c:v>
                  </c:pt>
                  <c:pt idx="1">
                    <c:v>GPT-4o mini</c:v>
                  </c:pt>
                  <c:pt idx="2">
                    <c:v>Llama 3.1 8B</c:v>
                  </c:pt>
                  <c:pt idx="3">
                    <c:v>DeepSeek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</c:v>
                </c:pt>
                <c:pt idx="1">
                  <c:v>96</c:v>
                </c:pt>
                <c:pt idx="2">
                  <c:v>80</c:v>
                </c:pt>
                <c:pt idx="3">
                  <c:v>28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6350" cap="flat">
              <a:solidFill>
                <a:srgbClr val="24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Average latency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latency (s)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o3-mini</c:v>
                  </c:pt>
                  <c:pt idx="1">
                    <c:v>GPT-4o mini</c:v>
                  </c:pt>
                  <c:pt idx="2">
                    <c:v>Llama 3.1 8B</c:v>
                  </c:pt>
                  <c:pt idx="3">
                    <c:v>DeepSeek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2.59</c:v>
                </c:pt>
                <c:pt idx="1">
                  <c:v>2.65</c:v>
                </c:pt>
                <c:pt idx="2">
                  <c:v>11.51</c:v>
                </c:pt>
                <c:pt idx="3">
                  <c:v>26.32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l"/>
        <c:majorGridlines>
          <c:spPr>
            <a:ln w="6350" cap="flat">
              <a:solidFill>
                <a:srgbClr val="24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 GSM8K</c:v>
                  </c:pt>
                  <c:pt idx="2">
                    <c:v>Week 3 code</c:v>
                  </c:pt>
                  <c:pt idx="3">
                    <c:v>Week 3 Q&amp;A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98</c:v>
                </c:pt>
                <c:pt idx="2">
                  <c:v>100</c:v>
                </c:pt>
                <c:pt idx="3">
                  <c:v>94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6350" cap="flat">
              <a:solidFill>
                <a:srgbClr val="24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Average latency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latency (s)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 GSM8K</c:v>
                  </c:pt>
                  <c:pt idx="2">
                    <c:v>Week 3 code</c:v>
                  </c:pt>
                  <c:pt idx="3">
                    <c:v>Week 3 Q&amp;A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3.43</c:v>
                </c:pt>
                <c:pt idx="1">
                  <c:v>2.59</c:v>
                </c:pt>
                <c:pt idx="2">
                  <c:v>3.5</c:v>
                </c:pt>
                <c:pt idx="3">
                  <c:v>1.54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24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 GSM8K</c:v>
                  </c:pt>
                  <c:pt idx="2">
                    <c:v>Week 3 code</c:v>
                  </c:pt>
                  <c:pt idx="3">
                    <c:v>Week 3 Q&amp;A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96</c:v>
                </c:pt>
                <c:pt idx="2">
                  <c:v>100</c:v>
                </c:pt>
                <c:pt idx="3">
                  <c:v>90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6350" cap="flat">
              <a:solidFill>
                <a:srgbClr val="24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Average latency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latency (s)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 GSM8K</c:v>
                  </c:pt>
                  <c:pt idx="2">
                    <c:v>Week 3 code</c:v>
                  </c:pt>
                  <c:pt idx="3">
                    <c:v>Week 3 Q&amp;A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2.91</c:v>
                </c:pt>
                <c:pt idx="1">
                  <c:v>2.65</c:v>
                </c:pt>
                <c:pt idx="2">
                  <c:v>1.98</c:v>
                </c:pt>
                <c:pt idx="3">
                  <c:v>0.94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24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 GSM8K</c:v>
                  </c:pt>
                  <c:pt idx="2">
                    <c:v>Week 3 code</c:v>
                  </c:pt>
                  <c:pt idx="3">
                    <c:v>Week 3 Q&amp;A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80</c:v>
                </c:pt>
                <c:pt idx="2">
                  <c:v>100</c:v>
                </c:pt>
                <c:pt idx="3">
                  <c:v>98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6350" cap="flat">
              <a:solidFill>
                <a:srgbClr val="24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Average latency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latency (s)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 GSM8K</c:v>
                  </c:pt>
                  <c:pt idx="2">
                    <c:v>Week 3 code</c:v>
                  </c:pt>
                  <c:pt idx="3">
                    <c:v>Week 3 Q&amp;A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3.46</c:v>
                </c:pt>
                <c:pt idx="1">
                  <c:v>11.51</c:v>
                </c:pt>
                <c:pt idx="2">
                  <c:v>110.33</c:v>
                </c:pt>
                <c:pt idx="3">
                  <c:v>0.92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7"/>
          <c:min val="0"/>
        </c:scaling>
        <c:delete val="0"/>
        <c:axPos val="l"/>
        <c:majorGridlines>
          <c:spPr>
            <a:ln w="6350" cap="flat">
              <a:solidFill>
                <a:srgbClr val="24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 GSM8K</c:v>
                  </c:pt>
                  <c:pt idx="2">
                    <c:v>Week 3 code</c:v>
                  </c:pt>
                  <c:pt idx="3">
                    <c:v>Week 3 Q&amp;A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28</c:v>
                </c:pt>
                <c:pt idx="2">
                  <c:v>4</c:v>
                </c:pt>
                <c:pt idx="3">
                  <c:v>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6350" cap="flat">
              <a:solidFill>
                <a:srgbClr val="24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Average latency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latency (s)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 GSM8K</c:v>
                  </c:pt>
                  <c:pt idx="2">
                    <c:v>Week 3 code</c:v>
                  </c:pt>
                  <c:pt idx="3">
                    <c:v>Week 3 Q&amp;A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217.41</c:v>
                </c:pt>
                <c:pt idx="1">
                  <c:v>26.32</c:v>
                </c:pt>
                <c:pt idx="2">
                  <c:v>336</c:v>
                </c:pt>
                <c:pt idx="3">
                  <c:v>16.01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7"/>
          <c:min val="0"/>
        </c:scaling>
        <c:delete val="0"/>
        <c:axPos val="l"/>
        <c:majorGridlines>
          <c:spPr>
            <a:ln w="6350" cap="flat">
              <a:solidFill>
                <a:srgbClr val="2436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188720"/>
            <a:ext cx="8229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GEN AI P16  |  GROUP NO.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Thinking Models vs Instruct Models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FB0C8"/>
                </a:solidFill>
              </a:rPr>
              <a:t>Experimental evaluation of accuracy, latency and task performance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</a:rPr>
              <a:t>ExcelR Project  |  Final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objective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0C8"/>
                </a:solidFill>
              </a:rPr>
              <a:t>Test two kinds of AI model on the same tasks, then decide when to use each.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21280" cy="237744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64008" cy="2377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574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Compare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164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Run 4 models on maths, code and general Q&amp;A using public datasets.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61360" y="1920240"/>
            <a:ext cx="2621280" cy="237744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1360" y="1920240"/>
            <a:ext cx="64008" cy="2377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5680" y="20574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Measure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35680" y="2514600"/>
            <a:ext cx="2164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Track accuracy, response time and cost per query.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65520" y="1920240"/>
            <a:ext cx="2621280" cy="237744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65520" y="1920240"/>
            <a:ext cx="64008" cy="2377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39840" y="20574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Decide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39840" y="2514600"/>
            <a:ext cx="2164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Recommend which model type suits which kind of task.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Thinking vs instruct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0175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30175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Thinking model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Works through the problem step by step first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Linked to stronger reasoning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Can cost more time and tokens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Reasoning trace may be visible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30175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371600"/>
            <a:ext cx="64008" cy="30175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</a:rPr>
              <a:t>Instruct model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488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Follows the instruction and answers directly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Fast responses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Strong for everyday Q&amp;A and writing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Only the final answer is shown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MODELS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Classification of the four models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C8"/>
                </a:solidFill>
              </a:rPr>
              <a:t>Two thinking and two instruct models, from closed APIs and open weights.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0" cy="123444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64008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o3-mini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Thinking | closed API (OpenAI). Reasoning hidden.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4023360" cy="123444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737360"/>
            <a:ext cx="64008" cy="1234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GPT-4o mini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Instruct | closed API (OpenAI).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023360" cy="123444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54680"/>
            <a:ext cx="64008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DeepSeek-R1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Thinking | open weights. Distilled 7B; reasoning shown in &lt;think&gt; tags.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154680"/>
            <a:ext cx="4023360" cy="123444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154680"/>
            <a:ext cx="64008" cy="1234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Llama 3.1 8B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Instruct | open weights (Meta).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Test setup and platforms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155448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1554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Week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216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10 test questions in four categories: factual, math, concept, coding.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61360" y="1371600"/>
            <a:ext cx="2621280" cy="155448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1360" y="1371600"/>
            <a:ext cx="64008" cy="1554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5680" y="15087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Week 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35680" y="1965960"/>
            <a:ext cx="216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GSM8K maths word problems (50 questions).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65520" y="1371600"/>
            <a:ext cx="2621280" cy="155448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5520" y="137160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39840" y="15087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Week 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39840" y="1965960"/>
            <a:ext cx="216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HumanEval code (25 problems) and general knowledge Q&amp;A (50 questions).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How each model was run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o3-mini and GPT-4o mini: OpenAI 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Llama 3.1 8B: Hugging Face Inference 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DeepSeek 7B (distilled): local transformers pipeline on a Colab GPU, 300-token limit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accuracy is calculated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8229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Accuracy (%) = (Correct final answers ÷ Total evaluated questions) × 100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621280" cy="17373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77440"/>
            <a:ext cx="64008" cy="1737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146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GSM8K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71800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Final numeric answer matches the key. Example: 49/50 ≈ 98%.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1360" y="2377440"/>
            <a:ext cx="2621280" cy="17373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1360" y="2377440"/>
            <a:ext cx="64008" cy="1737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5680" y="25146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HumanEval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35680" y="2971800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Function passes official unit tests. Example: 25/25 = 100%.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65520" y="2377440"/>
            <a:ext cx="2621280" cy="17373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237744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39840" y="25146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General Q&amp;A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39840" y="2971800"/>
            <a:ext cx="216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Answer is manually judged correct. Example: 47/50 = 94%.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FB0C8"/>
                </a:solidFill>
              </a:rPr>
              <a:t>Reasoning-trace length is not used as an accuracy measure.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WEEK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1 results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280160"/>
                <a:gridCol w="1371600"/>
                <a:gridCol w="155448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Avg latency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Total (10 Qs)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Avg answer (chars)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Correct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o3-mini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</a:rPr>
                        <a:t>Thinking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3.43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34.3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6/6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GPT-4o mini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D4BF"/>
                          </a:solidFill>
                        </a:rPr>
                        <a:t>Instruct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2.91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29.1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743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6/6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Llama 3.1 8B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D4BF"/>
                          </a:solidFill>
                        </a:rPr>
                        <a:t>Instruct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3.46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34.6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6/6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DeepSeek 7B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</a:rPr>
                        <a:t>Thinking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217.41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2174.1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1046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3/6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FB0C8"/>
                </a:solidFill>
              </a:rPr>
              <a:t>Correct = the 6 questions with a definite answer. DeepSeek counted only if it finished within the 300-token limit.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WEEK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GSM8K maths: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12801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12801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50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216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grade-school maths problems, one numeric answer each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61360" y="1371600"/>
            <a:ext cx="2621280" cy="12801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1360" y="1371600"/>
            <a:ext cx="64008" cy="1280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5680" y="15087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35680" y="1965960"/>
            <a:ext cx="216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models, same questions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65520" y="1371600"/>
            <a:ext cx="2621280" cy="12801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5520" y="137160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39840" y="15087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39840" y="1965960"/>
            <a:ext cx="216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metrics: accuracy and time per question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155448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34640"/>
            <a:ext cx="64008" cy="1554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28346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A78BFA"/>
                </a:solidFill>
              </a:rPr>
              <a:t>Prompt: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solve step by step, end with FINAL ANSWER: &lt;number&gt;.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A78BFA"/>
                </a:solidFill>
              </a:rPr>
              <a:t>Scoring: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a regex pulls the last number from the reply and compares it to the answer key.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WEEK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2 results (GSM8K)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2194560"/>
                <a:gridCol w="118872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</a:rPr>
                        <a:t>Correct (reported → re-checked)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</a:rPr>
                        <a:t>Avg latency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</a:rPr>
                        <a:t>Median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</a:rPr>
                        <a:t>Total time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o3-mini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8BFA"/>
                          </a:solidFill>
                        </a:rPr>
                        <a:t>Thinking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38/50 → ~49/50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2.59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1.99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130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GPT-4o mini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D4BF"/>
                          </a:solidFill>
                        </a:rPr>
                        <a:t>Instruct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38/50 → ~48/50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2.65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2.37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133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Llama 3.1 8B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D4BF"/>
                          </a:solidFill>
                        </a:rPr>
                        <a:t>Instruct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40/50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11.51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8.82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576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DeepSeek-R1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8BFA"/>
                          </a:solidFill>
                        </a:rPr>
                        <a:t>Thinking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14/50 (6 errored)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26.32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24.27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1158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FB0C8"/>
                </a:solidFill>
              </a:rPr>
              <a:t>"Re-checked" = manual re-score after the regex under-counted correct answers.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WEEK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2: accuracy and speed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28016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FB0C8"/>
                </a:solidFill>
              </a:rPr>
              <a:t>Llama accuracy as reported (40/50). DeepSeek-R1 includes 6 errored calls.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WEEK 3 (CODE)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Code generation: HumanEval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8"/>
                </a:solidFill>
              </a:rPr>
              <a:t>25 of 164 problems, scored by official unit tests (pass@1). 25 problems × 4 models = 100 answers.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05840"/>
                <a:gridCol w="1097280"/>
                <a:gridCol w="118872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Correct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Avg latency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Median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Total 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o3-mini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</a:rPr>
                        <a:t>Thinking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25/25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3.50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3.27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88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GPT-4o mini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D4BF"/>
                          </a:solidFill>
                        </a:rPr>
                        <a:t>Instruct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25/25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1.98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1.74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50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Llama 3.1 8B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D4BF"/>
                          </a:solidFill>
                        </a:rPr>
                        <a:t>Instruct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25/25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110.33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101.81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2758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DeepSeek 7B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</a:rPr>
                        <a:t>Thinking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1/25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336.00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339.97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8400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WEEK 3B (Q&amp;A)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General knowledge Q&amp;A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8"/>
                </a:solidFill>
              </a:rPr>
              <a:t>50 factual questions via the OpenRouter API, graded manually. 50 × 4 models = 200 answers.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05840"/>
                <a:gridCol w="1097280"/>
                <a:gridCol w="118872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Correct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Avg latency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Median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Total 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</a:rPr>
                        <a:t>Thinking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47/50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94%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1.54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1.23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77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GPT-4o mini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D4BF"/>
                          </a:solidFill>
                        </a:rPr>
                        <a:t>Instruct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45/50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90%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0.94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0.77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47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Llama 3.1 8B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D4BF"/>
                          </a:solidFill>
                        </a:rPr>
                        <a:t>Instruct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49/50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98%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0.92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0.61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46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DeepSeek-R1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78BFA"/>
                          </a:solidFill>
                        </a:rPr>
                        <a:t>Thinking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25/50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16.01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13.71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801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MODEL PROFILE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o3-mini / o3: performance across tasks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28016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Best at: accurate on every task (94 to 100%) and fast, 1.5 to 3.5 s.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</a:rPr>
              <a:t>Watch out: the costliest model, roughly 20× to 150× GPT-4o mini per query (estimated).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MODEL PROFILE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GPT-4o mini: performance across tasks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28016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Best at: 90 to 100% accuracy, fastest on code and Q&amp;A, and lowest cost. Best all-round value.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</a:rPr>
              <a:t>Watch out: lowest Q&amp;A score of the three working models (90%).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MODEL PROFILE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Llama 3.1 8B: performance across tasks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28016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Best at: highest Q&amp;A accuracy (98%), under 1 s per question via API, 100% on code.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</a:rPr>
              <a:t>Watch out: 110 s per code problem when run locally on a T4 GPU; GSM8K 80% (40/50 as reported).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MODEL PROFILE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DeepSeek: performance across tasks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28016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Best at: shows its reasoning; finished answers were usually right (14 of 16).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0C8"/>
                </a:solidFill>
              </a:rPr>
              <a:t>Watch out: low scores reflect token limits and slow local runs; needs a re-run.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Which model works best for which data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Data type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Best choice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Evidence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Simple factual Q&amp;A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Llama 3.1 8B (accuracy), GPT-4o mini (cost)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Llama 98% in 0.9 s; GPT-4o mini 90% in 0.9 s, lowest cost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Maths word problems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o3-mini (accuracy), GPT-4o mini (value)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~98% vs 96%, both near 2.6 s; o3-mini costs about 20× more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Code generation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GPT-4o mini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100% pass@1 in 2.0 s; o3-mini also 100% in 3.5 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Quick mixed questions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GPT-4o mini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All correct and fastest at 2.9 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Hard multi-step reasoning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Thinking model (o3)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Not separated by our easy tasks; test harder problems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Private or offline use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Llama 3.1 8B (open weights)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Accurate, but needs an API or fast GPU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Overall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21031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2103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Accuracy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216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o3/o3-mini: 94 to 100%. GPT-4o mini: 90 to 100%. Llama: best Q&amp;A at 98%.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61360" y="1371600"/>
            <a:ext cx="2621280" cy="21031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1360" y="1371600"/>
            <a:ext cx="64008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5680" y="15087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Speed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35680" y="1965960"/>
            <a:ext cx="216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GPT-4o mini among the fastest. Llama fast via API, slow locally. DeepSeek slowest.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65520" y="1371600"/>
            <a:ext cx="2621280" cy="21031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5520" y="1371600"/>
            <a:ext cx="64008" cy="2103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39840" y="15087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Trade-off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39840" y="1965960"/>
            <a:ext cx="216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Choice depends on accuracy, latency, cost and environment, not just "thinking".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Best observed fit:  Q&amp;A: Llama  |  Maths: o3-mini  |  Code: GPT-4o mini / o3-mini  |  Quick mixed: GPT-4o mini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21280" cy="21031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2103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1  Accuracy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216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Thinking models can be highly accurate, but the score must come from a clear task-level rule.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61360" y="1371600"/>
            <a:ext cx="2621280" cy="21031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1360" y="1371600"/>
            <a:ext cx="64008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5680" y="15087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2  Performance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35680" y="1965960"/>
            <a:ext cx="216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Instruct models deliver excellent accuracy with lower latency on many straightforward tasks.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65520" y="1371600"/>
            <a:ext cx="2621280" cy="21031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5520" y="1371600"/>
            <a:ext cx="64008" cy="2103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39840" y="150876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3  Model choice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39840" y="1965960"/>
            <a:ext cx="216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There is no single winner. The right model depends on the task and practical limits.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57600"/>
            <a:ext cx="64008" cy="8229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657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 accuracy to measure correctness, latency to measure speed, and the task itself to decide the best fit.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inkVsInstruct">
  <a:themeElements>
    <a:clrScheme name="ThinkVsInstruct">
      <a:dk1>
        <a:srgbClr val="0B1220"/>
      </a:dk1>
      <a:lt1>
        <a:srgbClr val="FFFFFF"/>
      </a:lt1>
      <a:dk2>
        <a:srgbClr val="152238"/>
      </a:dk2>
      <a:lt2>
        <a:srgbClr val="9FB0C8"/>
      </a:lt2>
      <a:accent1>
        <a:srgbClr val="2DD4BF"/>
      </a:accent1>
      <a:accent2>
        <a:srgbClr val="A78BFA"/>
      </a:accent2>
      <a:accent3>
        <a:srgbClr val="F59E0B"/>
      </a:accent3>
      <a:accent4>
        <a:srgbClr val="60A5FA"/>
      </a:accent4>
      <a:accent5>
        <a:srgbClr val="F472B6"/>
      </a:accent5>
      <a:accent6>
        <a:srgbClr val="34D399"/>
      </a:accent6>
      <a:hlink>
        <a:srgbClr val="2DD4BF"/>
      </a:hlink>
      <a:folHlink>
        <a:srgbClr val="A78BFA"/>
      </a:folHlink>
    </a:clrScheme>
    <a:fontScheme name="ThinkVsInstruc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2026-10-09T07:19:51Z</dcterms:created>
  <dcterms:modified xsi:type="dcterms:W3CDTF">2026-10-09T07:19:51Z</dcterms:modified>
</cp:coreProperties>
</file>